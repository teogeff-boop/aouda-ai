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jpg"/>
          <p:cNvPicPr>
            <a:picLocks noChangeAspect="1"/>
          </p:cNvPicPr>
          <p:nvPr/>
        </p:nvPicPr>
        <p:blipFill>
          <a:blip r:embed="rId2"/>
          <a:stretch>
            <a:fillRect/>
          </a:stretch>
        </p:blipFill>
        <p:spPr>
          <a:xfrm>
            <a:off x="0" y="0"/>
            <a:ext cx="12191695" cy="6858000"/>
          </a:xfrm>
          <a:prstGeom prst="rect">
            <a:avLst/>
          </a:prstGeom>
        </p:spPr>
      </p:pic>
      <p:pic>
        <p:nvPicPr>
          <p:cNvPr id="3" name="Picture 2" descr="estaca_logo.png"/>
          <p:cNvPicPr>
            <a:picLocks noChangeAspect="1"/>
          </p:cNvPicPr>
          <p:nvPr/>
        </p:nvPicPr>
        <p:blipFill>
          <a:blip r:embed="rId3"/>
          <a:stretch>
            <a:fillRect/>
          </a:stretch>
        </p:blipFill>
        <p:spPr>
          <a:xfrm>
            <a:off x="548640" y="457200"/>
            <a:ext cx="2663301" cy="1097280"/>
          </a:xfrm>
          <a:prstGeom prst="rect">
            <a:avLst/>
          </a:prstGeom>
        </p:spPr>
      </p:pic>
      <p:pic>
        <p:nvPicPr>
          <p:cNvPr id="4" name="Picture 3" descr="owf_logo.png"/>
          <p:cNvPicPr>
            <a:picLocks noChangeAspect="1"/>
          </p:cNvPicPr>
          <p:nvPr/>
        </p:nvPicPr>
        <p:blipFill>
          <a:blip r:embed="rId4"/>
          <a:stretch>
            <a:fillRect/>
          </a:stretch>
        </p:blipFill>
        <p:spPr>
          <a:xfrm>
            <a:off x="10241280" y="457200"/>
            <a:ext cx="1854767" cy="1097280"/>
          </a:xfrm>
          <a:prstGeom prst="rect">
            <a:avLst/>
          </a:prstGeom>
        </p:spPr>
      </p:pic>
      <p:sp>
        <p:nvSpPr>
          <p:cNvPr id="5" name="Rectangle 4"/>
          <p:cNvSpPr/>
          <p:nvPr/>
        </p:nvSpPr>
        <p:spPr>
          <a:xfrm>
            <a:off x="0" y="4754880"/>
            <a:ext cx="12191695" cy="100584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4919472"/>
            <a:ext cx="12191695" cy="685800"/>
          </a:xfrm>
          <a:prstGeom prst="rect">
            <a:avLst/>
          </a:prstGeom>
          <a:noFill/>
        </p:spPr>
        <p:txBody>
          <a:bodyPr wrap="none">
            <a:spAutoFit/>
          </a:bodyPr>
          <a:lstStyle/>
          <a:p>
            <a:pPr algn="ctr">
              <a:defRPr sz="3600" b="1">
                <a:solidFill>
                  <a:srgbClr val="1E1E1E"/>
                </a:solidFill>
                <a:latin typeface="Consolas"/>
              </a:defRPr>
            </a:pPr>
            <a:r>
              <a:t>The JARVIS / AOUDA Project</a:t>
            </a:r>
          </a:p>
        </p:txBody>
      </p:sp>
      <p:sp>
        <p:nvSpPr>
          <p:cNvPr id="7" name="TextBox 6"/>
          <p:cNvSpPr txBox="1"/>
          <p:nvPr/>
        </p:nvSpPr>
        <p:spPr>
          <a:xfrm>
            <a:off x="457200" y="6217920"/>
            <a:ext cx="11277295" cy="365760"/>
          </a:xfrm>
          <a:prstGeom prst="rect">
            <a:avLst/>
          </a:prstGeom>
          <a:noFill/>
        </p:spPr>
        <p:txBody>
          <a:bodyPr wrap="none">
            <a:spAutoFit/>
          </a:bodyPr>
          <a:lstStyle/>
          <a:p>
            <a:pPr algn="r">
              <a:defRPr sz="1300" b="1">
                <a:solidFill>
                  <a:srgbClr val="FFFFFF"/>
                </a:solidFill>
                <a:latin typeface="Calibri"/>
              </a:defRPr>
            </a:pPr>
            <a:r>
              <a:t>ESTACA x ÖWF AMADEE-27 Analog Mars Mission  |  Internship Project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Context</a:t>
            </a:r>
          </a:p>
        </p:txBody>
      </p:sp>
      <p:sp>
        <p:nvSpPr>
          <p:cNvPr id="6" name="TextBox 5"/>
          <p:cNvSpPr txBox="1"/>
          <p:nvPr/>
        </p:nvSpPr>
        <p:spPr>
          <a:xfrm>
            <a:off x="914400" y="1463040"/>
            <a:ext cx="10362895" cy="2011680"/>
          </a:xfrm>
          <a:prstGeom prst="rect">
            <a:avLst/>
          </a:prstGeom>
          <a:noFill/>
        </p:spPr>
        <p:txBody>
          <a:bodyPr wrap="square">
            <a:spAutoFit/>
          </a:bodyPr>
          <a:lstStyle/>
          <a:p>
            <a:pPr algn="l">
              <a:spcAft>
                <a:spcPts val="1600"/>
              </a:spcAft>
              <a:defRPr sz="1500" b="0">
                <a:solidFill>
                  <a:srgbClr val="1E1E1E"/>
                </a:solidFill>
                <a:latin typeface="Calibri"/>
              </a:defRPr>
            </a:pPr>
            <a:r>
              <a:t>The upcoming AMADEE-27 mission, organized by the Austrian Space Forum (OeWF), represents a major milestone in high-fidelity Mars analog simulations. Based in Portugal, the mission will test key instruments and exploration workflows critical to human planetary exploration. During Extravehicular Activities (EVAs), analog astronauts wear the complex AOUDA spacesuit simulator. However, operating technical instruments and consulting paper manuals while wearing heavy pressurized gloves and restricted visors introduces severe operational friction.</a:t>
            </a:r>
          </a:p>
        </p:txBody>
      </p:sp>
      <p:sp>
        <p:nvSpPr>
          <p:cNvPr id="7" name="TextBox 6"/>
          <p:cNvSpPr txBox="1"/>
          <p:nvPr/>
        </p:nvSpPr>
        <p:spPr>
          <a:xfrm>
            <a:off x="914400" y="3657600"/>
            <a:ext cx="10362895" cy="2286000"/>
          </a:xfrm>
          <a:prstGeom prst="rect">
            <a:avLst/>
          </a:prstGeom>
          <a:noFill/>
        </p:spPr>
        <p:txBody>
          <a:bodyPr wrap="square">
            <a:spAutoFit/>
          </a:bodyPr>
          <a:lstStyle/>
          <a:p>
            <a:pPr algn="l">
              <a:spcAft>
                <a:spcPts val="1400"/>
              </a:spcAft>
              <a:defRPr sz="1500" b="0">
                <a:solidFill>
                  <a:srgbClr val="1E1E1E"/>
                </a:solidFill>
                <a:latin typeface="Calibri"/>
              </a:defRPr>
            </a:pPr>
            <a:r>
              <a:t>To eliminate screen dependency and manual handling risks, this project introduces 'JARVIS / AOUDA', a fully autonomous, 100% offline voice assistant specifically tailored for Mars EVA procedures. By providing deterministic, zero-hallucination voice guidance, session memory for scientific payloads such as the 'Caillou' Raman Spectrometer, and real-time telemetry monitoring, JARVIS optimizes astronaut safety, procedural efficiency, and scientific data collection under extreme operational constraints.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Content</a:t>
            </a:r>
          </a:p>
        </p:txBody>
      </p:sp>
      <p:sp>
        <p:nvSpPr>
          <p:cNvPr id="6" name="TextBox 5"/>
          <p:cNvSpPr txBox="1"/>
          <p:nvPr/>
        </p:nvSpPr>
        <p:spPr>
          <a:xfrm>
            <a:off x="1097280" y="1463040"/>
            <a:ext cx="548640" cy="457200"/>
          </a:xfrm>
          <a:prstGeom prst="rect">
            <a:avLst/>
          </a:prstGeom>
          <a:noFill/>
        </p:spPr>
        <p:txBody>
          <a:bodyPr wrap="none">
            <a:spAutoFit/>
          </a:bodyPr>
          <a:lstStyle/>
          <a:p>
            <a:pPr>
              <a:defRPr sz="2000">
                <a:solidFill>
                  <a:srgbClr val="1E1E1E"/>
                </a:solidFill>
                <a:latin typeface="Calibri"/>
              </a:defRPr>
            </a:pPr>
            <a:r>
              <a:t>⚙</a:t>
            </a:r>
          </a:p>
        </p:txBody>
      </p:sp>
      <p:sp>
        <p:nvSpPr>
          <p:cNvPr id="7" name="TextBox 6"/>
          <p:cNvSpPr txBox="1"/>
          <p:nvPr/>
        </p:nvSpPr>
        <p:spPr>
          <a:xfrm>
            <a:off x="1645920" y="1463040"/>
            <a:ext cx="9601200" cy="731520"/>
          </a:xfrm>
          <a:prstGeom prst="rect">
            <a:avLst/>
          </a:prstGeom>
          <a:noFill/>
        </p:spPr>
        <p:txBody>
          <a:bodyPr wrap="square">
            <a:spAutoFit/>
          </a:bodyPr>
          <a:lstStyle/>
          <a:p>
            <a:pPr>
              <a:defRPr sz="1700" b="1">
                <a:solidFill>
                  <a:srgbClr val="1E1E1E"/>
                </a:solidFill>
                <a:latin typeface="Consolas"/>
              </a:defRPr>
            </a:pPr>
            <a:r>
              <a:t>System Requirements &amp; Operational Scenario</a:t>
            </a:r>
          </a:p>
          <a:p>
            <a:pPr>
              <a:defRPr sz="1200">
                <a:solidFill>
                  <a:srgbClr val="646464"/>
                </a:solidFill>
                <a:latin typeface="Calibri"/>
              </a:defRPr>
            </a:pPr>
            <a:r>
              <a:t>Functional constraints, EVA workflow, and telemetry integration.</a:t>
            </a:r>
          </a:p>
        </p:txBody>
      </p:sp>
      <p:sp>
        <p:nvSpPr>
          <p:cNvPr id="8" name="TextBox 7"/>
          <p:cNvSpPr txBox="1"/>
          <p:nvPr/>
        </p:nvSpPr>
        <p:spPr>
          <a:xfrm>
            <a:off x="1097280" y="2423160"/>
            <a:ext cx="548640" cy="457200"/>
          </a:xfrm>
          <a:prstGeom prst="rect">
            <a:avLst/>
          </a:prstGeom>
          <a:noFill/>
        </p:spPr>
        <p:txBody>
          <a:bodyPr wrap="none">
            <a:spAutoFit/>
          </a:bodyPr>
          <a:lstStyle/>
          <a:p>
            <a:pPr>
              <a:defRPr sz="2000">
                <a:solidFill>
                  <a:srgbClr val="1E1E1E"/>
                </a:solidFill>
                <a:latin typeface="Calibri"/>
              </a:defRPr>
            </a:pPr>
            <a:r>
              <a:t>⚙</a:t>
            </a:r>
          </a:p>
        </p:txBody>
      </p:sp>
      <p:sp>
        <p:nvSpPr>
          <p:cNvPr id="9" name="TextBox 8"/>
          <p:cNvSpPr txBox="1"/>
          <p:nvPr/>
        </p:nvSpPr>
        <p:spPr>
          <a:xfrm>
            <a:off x="1645920" y="2423160"/>
            <a:ext cx="9601200" cy="731520"/>
          </a:xfrm>
          <a:prstGeom prst="rect">
            <a:avLst/>
          </a:prstGeom>
          <a:noFill/>
        </p:spPr>
        <p:txBody>
          <a:bodyPr wrap="square">
            <a:spAutoFit/>
          </a:bodyPr>
          <a:lstStyle/>
          <a:p>
            <a:pPr>
              <a:defRPr sz="1700" b="1">
                <a:solidFill>
                  <a:srgbClr val="1E1E1E"/>
                </a:solidFill>
                <a:latin typeface="Consolas"/>
              </a:defRPr>
            </a:pPr>
            <a:r>
              <a:t>Dual-Brain Software Architecture</a:t>
            </a:r>
          </a:p>
          <a:p>
            <a:pPr>
              <a:defRPr sz="1200">
                <a:solidFill>
                  <a:srgbClr val="646464"/>
                </a:solidFill>
                <a:latin typeface="Calibri"/>
              </a:defRPr>
            </a:pPr>
            <a:r>
              <a:t>Deterministic Little Brain reflex core &amp; Big Brain procedure engine.</a:t>
            </a:r>
          </a:p>
        </p:txBody>
      </p:sp>
      <p:sp>
        <p:nvSpPr>
          <p:cNvPr id="10" name="TextBox 9"/>
          <p:cNvSpPr txBox="1"/>
          <p:nvPr/>
        </p:nvSpPr>
        <p:spPr>
          <a:xfrm>
            <a:off x="1097280" y="3383280"/>
            <a:ext cx="548640" cy="457200"/>
          </a:xfrm>
          <a:prstGeom prst="rect">
            <a:avLst/>
          </a:prstGeom>
          <a:noFill/>
        </p:spPr>
        <p:txBody>
          <a:bodyPr wrap="none">
            <a:spAutoFit/>
          </a:bodyPr>
          <a:lstStyle/>
          <a:p>
            <a:pPr>
              <a:defRPr sz="2000">
                <a:solidFill>
                  <a:srgbClr val="1E1E1E"/>
                </a:solidFill>
                <a:latin typeface="Calibri"/>
              </a:defRPr>
            </a:pPr>
            <a:r>
              <a:t>⚙</a:t>
            </a:r>
          </a:p>
        </p:txBody>
      </p:sp>
      <p:sp>
        <p:nvSpPr>
          <p:cNvPr id="11" name="TextBox 10"/>
          <p:cNvSpPr txBox="1"/>
          <p:nvPr/>
        </p:nvSpPr>
        <p:spPr>
          <a:xfrm>
            <a:off x="1645920" y="3383280"/>
            <a:ext cx="9601200" cy="731520"/>
          </a:xfrm>
          <a:prstGeom prst="rect">
            <a:avLst/>
          </a:prstGeom>
          <a:noFill/>
        </p:spPr>
        <p:txBody>
          <a:bodyPr wrap="square">
            <a:spAutoFit/>
          </a:bodyPr>
          <a:lstStyle/>
          <a:p>
            <a:pPr>
              <a:defRPr sz="1700" b="1">
                <a:solidFill>
                  <a:srgbClr val="1E1E1E"/>
                </a:solidFill>
                <a:latin typeface="Consolas"/>
              </a:defRPr>
            </a:pPr>
            <a:r>
              <a:t>Voice Processing Pipeline &amp; Offline STT/TTS</a:t>
            </a:r>
          </a:p>
          <a:p>
            <a:pPr>
              <a:defRPr sz="1200">
                <a:solidFill>
                  <a:srgbClr val="646464"/>
                </a:solidFill>
                <a:latin typeface="Calibri"/>
              </a:defRPr>
            </a:pPr>
            <a:r>
              <a:t>Faster-Whisper transcription, phonetic correction, and Piper TTS.</a:t>
            </a:r>
          </a:p>
        </p:txBody>
      </p:sp>
      <p:sp>
        <p:nvSpPr>
          <p:cNvPr id="12" name="TextBox 11"/>
          <p:cNvSpPr txBox="1"/>
          <p:nvPr/>
        </p:nvSpPr>
        <p:spPr>
          <a:xfrm>
            <a:off x="1097280" y="4343400"/>
            <a:ext cx="548640" cy="457200"/>
          </a:xfrm>
          <a:prstGeom prst="rect">
            <a:avLst/>
          </a:prstGeom>
          <a:noFill/>
        </p:spPr>
        <p:txBody>
          <a:bodyPr wrap="none">
            <a:spAutoFit/>
          </a:bodyPr>
          <a:lstStyle/>
          <a:p>
            <a:pPr>
              <a:defRPr sz="2000">
                <a:solidFill>
                  <a:srgbClr val="1E1E1E"/>
                </a:solidFill>
                <a:latin typeface="Calibri"/>
              </a:defRPr>
            </a:pPr>
            <a:r>
              <a:t>⚙</a:t>
            </a:r>
          </a:p>
        </p:txBody>
      </p:sp>
      <p:sp>
        <p:nvSpPr>
          <p:cNvPr id="13" name="TextBox 12"/>
          <p:cNvSpPr txBox="1"/>
          <p:nvPr/>
        </p:nvSpPr>
        <p:spPr>
          <a:xfrm>
            <a:off x="1645920" y="4343400"/>
            <a:ext cx="9601200" cy="731520"/>
          </a:xfrm>
          <a:prstGeom prst="rect">
            <a:avLst/>
          </a:prstGeom>
          <a:noFill/>
        </p:spPr>
        <p:txBody>
          <a:bodyPr wrap="square">
            <a:spAutoFit/>
          </a:bodyPr>
          <a:lstStyle/>
          <a:p>
            <a:pPr>
              <a:defRPr sz="1700" b="1">
                <a:solidFill>
                  <a:srgbClr val="1E1E1E"/>
                </a:solidFill>
                <a:latin typeface="Consolas"/>
              </a:defRPr>
            </a:pPr>
            <a:r>
              <a:t>Mission Scenario &amp; Field Demo ('Caillou')</a:t>
            </a:r>
          </a:p>
          <a:p>
            <a:pPr>
              <a:defRPr sz="1200">
                <a:solidFill>
                  <a:srgbClr val="646464"/>
                </a:solidFill>
                <a:latin typeface="Calibri"/>
              </a:defRPr>
            </a:pPr>
            <a:r>
              <a:t>Step-by-step interactive demonstration with 'Caillou' spectrometer payload.</a:t>
            </a:r>
          </a:p>
        </p:txBody>
      </p:sp>
      <p:sp>
        <p:nvSpPr>
          <p:cNvPr id="14" name="TextBox 13"/>
          <p:cNvSpPr txBox="1"/>
          <p:nvPr/>
        </p:nvSpPr>
        <p:spPr>
          <a:xfrm>
            <a:off x="1097280" y="5303520"/>
            <a:ext cx="548640" cy="457200"/>
          </a:xfrm>
          <a:prstGeom prst="rect">
            <a:avLst/>
          </a:prstGeom>
          <a:noFill/>
        </p:spPr>
        <p:txBody>
          <a:bodyPr wrap="none">
            <a:spAutoFit/>
          </a:bodyPr>
          <a:lstStyle/>
          <a:p>
            <a:pPr>
              <a:defRPr sz="2000">
                <a:solidFill>
                  <a:srgbClr val="1E1E1E"/>
                </a:solidFill>
                <a:latin typeface="Calibri"/>
              </a:defRPr>
            </a:pPr>
            <a:r>
              <a:t>⚙</a:t>
            </a:r>
          </a:p>
        </p:txBody>
      </p:sp>
      <p:sp>
        <p:nvSpPr>
          <p:cNvPr id="15" name="TextBox 14"/>
          <p:cNvSpPr txBox="1"/>
          <p:nvPr/>
        </p:nvSpPr>
        <p:spPr>
          <a:xfrm>
            <a:off x="1645920" y="5303520"/>
            <a:ext cx="9601200" cy="731520"/>
          </a:xfrm>
          <a:prstGeom prst="rect">
            <a:avLst/>
          </a:prstGeom>
          <a:noFill/>
        </p:spPr>
        <p:txBody>
          <a:bodyPr wrap="square">
            <a:spAutoFit/>
          </a:bodyPr>
          <a:lstStyle/>
          <a:p>
            <a:pPr>
              <a:defRPr sz="1700" b="1">
                <a:solidFill>
                  <a:srgbClr val="1E1E1E"/>
                </a:solidFill>
                <a:latin typeface="Consolas"/>
              </a:defRPr>
            </a:pPr>
            <a:r>
              <a:t>Hardware Setup &amp; System Validation</a:t>
            </a:r>
          </a:p>
          <a:p>
            <a:pPr>
              <a:defRPr sz="1200">
                <a:solidFill>
                  <a:srgbClr val="646464"/>
                </a:solidFill>
                <a:latin typeface="Calibri"/>
              </a:defRPr>
            </a:pPr>
            <a:r>
              <a:t>Raspberry Pi SBC core, power autonomy, and 33/33 unit test suite 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System Requirements &amp; Operational Scenario</a:t>
            </a:r>
          </a:p>
        </p:txBody>
      </p:sp>
      <p:sp>
        <p:nvSpPr>
          <p:cNvPr id="6" name="TextBox 5"/>
          <p:cNvSpPr txBox="1"/>
          <p:nvPr/>
        </p:nvSpPr>
        <p:spPr>
          <a:xfrm>
            <a:off x="731520" y="1280160"/>
            <a:ext cx="6858000" cy="457200"/>
          </a:xfrm>
          <a:prstGeom prst="rect">
            <a:avLst/>
          </a:prstGeom>
          <a:noFill/>
        </p:spPr>
        <p:txBody>
          <a:bodyPr wrap="square">
            <a:spAutoFit/>
          </a:bodyPr>
          <a:lstStyle/>
          <a:p>
            <a:pPr algn="l">
              <a:spcAft>
                <a:spcPts val="1400"/>
              </a:spcAft>
              <a:defRPr sz="2000" b="1">
                <a:solidFill>
                  <a:srgbClr val="1E1E1E"/>
                </a:solidFill>
                <a:latin typeface="Consolas"/>
              </a:defRPr>
            </a:pPr>
            <a:r>
              <a:t>Functional &amp; Data Workflow</a:t>
            </a:r>
          </a:p>
        </p:txBody>
      </p:sp>
      <p:sp>
        <p:nvSpPr>
          <p:cNvPr id="7" name="TextBox 6"/>
          <p:cNvSpPr txBox="1"/>
          <p:nvPr/>
        </p:nvSpPr>
        <p:spPr>
          <a:xfrm>
            <a:off x="731520" y="2103120"/>
            <a:ext cx="6858000" cy="4114800"/>
          </a:xfrm>
          <a:prstGeom prst="rect">
            <a:avLst/>
          </a:prstGeom>
          <a:noFill/>
        </p:spPr>
        <p:txBody>
          <a:bodyPr wrap="square">
            <a:spAutoFit/>
          </a:bodyPr>
          <a:lstStyle/>
          <a:p>
            <a:pPr>
              <a:spcAft>
                <a:spcPts val="2200"/>
              </a:spcAft>
            </a:pPr>
            <a:r>
              <a:rPr sz="1400" b="1">
                <a:solidFill>
                  <a:srgbClr val="1E1E1E"/>
                </a:solidFill>
                <a:latin typeface="Calibri"/>
              </a:rPr>
              <a:t>•  Realistic Workflow: </a:t>
            </a:r>
            <a:r>
              <a:rPr sz="1400" b="0">
                <a:solidFill>
                  <a:srgbClr val="1E1E1E"/>
                </a:solidFill>
                <a:latin typeface="Calibri"/>
              </a:rPr>
              <a:t>Replicate the complete setup and voice data path of an EVA mission assistant without cloud connectivity.</a:t>
            </a:r>
          </a:p>
          <a:p>
            <a:pPr>
              <a:spcAft>
                <a:spcPts val="2200"/>
              </a:spcAft>
            </a:pPr>
            <a:r>
              <a:rPr sz="1400" b="1">
                <a:solidFill>
                  <a:srgbClr val="1E1E1E"/>
                </a:solidFill>
                <a:latin typeface="Calibri"/>
              </a:rPr>
              <a:t>•  Targeting &amp; Context: </a:t>
            </a:r>
            <a:r>
              <a:rPr sz="1400" b="0">
                <a:solidFill>
                  <a:srgbClr val="1E1E1E"/>
                </a:solidFill>
                <a:latin typeface="Calibri"/>
              </a:rPr>
              <a:t>Integrate voice-driven procedure navigation ('Caillou' spectrometer) with hands-free execution.</a:t>
            </a:r>
          </a:p>
          <a:p>
            <a:pPr>
              <a:spcAft>
                <a:spcPts val="2200"/>
              </a:spcAft>
            </a:pPr>
            <a:r>
              <a:rPr sz="1400" b="1">
                <a:solidFill>
                  <a:srgbClr val="1E1E1E"/>
                </a:solidFill>
                <a:latin typeface="Calibri"/>
              </a:rPr>
              <a:t>•  Synthetic Output: </a:t>
            </a:r>
            <a:r>
              <a:rPr sz="1400" b="0">
                <a:solidFill>
                  <a:srgbClr val="1E1E1E"/>
                </a:solidFill>
                <a:latin typeface="Calibri"/>
              </a:rPr>
              <a:t>Generate deterministic step responses from local libraries and stream real-time suit telemetry to the astronaut.</a:t>
            </a:r>
          </a:p>
        </p:txBody>
      </p:sp>
      <p:sp>
        <p:nvSpPr>
          <p:cNvPr id="8" name="Rounded Rectangle 7"/>
          <p:cNvSpPr/>
          <p:nvPr/>
        </p:nvSpPr>
        <p:spPr>
          <a:xfrm>
            <a:off x="7955279" y="1280160"/>
            <a:ext cx="3749039" cy="512064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83879" y="141731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1</a:t>
            </a:r>
          </a:p>
        </p:txBody>
      </p:sp>
      <p:sp>
        <p:nvSpPr>
          <p:cNvPr id="10" name="TextBox 9"/>
          <p:cNvSpPr txBox="1"/>
          <p:nvPr/>
        </p:nvSpPr>
        <p:spPr>
          <a:xfrm>
            <a:off x="8668511" y="1371599"/>
            <a:ext cx="2880359" cy="640080"/>
          </a:xfrm>
          <a:prstGeom prst="rect">
            <a:avLst/>
          </a:prstGeom>
          <a:noFill/>
        </p:spPr>
        <p:txBody>
          <a:bodyPr wrap="square">
            <a:spAutoFit/>
          </a:bodyPr>
          <a:lstStyle/>
          <a:p>
            <a:pPr>
              <a:defRPr sz="1200" b="1">
                <a:solidFill>
                  <a:srgbClr val="1E1E1E"/>
                </a:solidFill>
                <a:latin typeface="Calibri"/>
              </a:defRPr>
            </a:pPr>
            <a:r>
              <a:t>Arrival &amp; Wake-Word</a:t>
            </a:r>
          </a:p>
          <a:p>
            <a:pPr>
              <a:defRPr sz="950">
                <a:solidFill>
                  <a:srgbClr val="646464"/>
                </a:solidFill>
                <a:latin typeface="Calibri"/>
              </a:defRPr>
            </a:pPr>
            <a:r>
              <a:t>Astronaute initiates assistant via wake phrase 'AOUDA'.</a:t>
            </a:r>
          </a:p>
        </p:txBody>
      </p:sp>
      <p:sp>
        <p:nvSpPr>
          <p:cNvPr id="11" name="Oval 10"/>
          <p:cNvSpPr/>
          <p:nvPr/>
        </p:nvSpPr>
        <p:spPr>
          <a:xfrm>
            <a:off x="8183879" y="227075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2</a:t>
            </a:r>
          </a:p>
        </p:txBody>
      </p:sp>
      <p:sp>
        <p:nvSpPr>
          <p:cNvPr id="12" name="TextBox 11"/>
          <p:cNvSpPr txBox="1"/>
          <p:nvPr/>
        </p:nvSpPr>
        <p:spPr>
          <a:xfrm>
            <a:off x="8668511" y="2225040"/>
            <a:ext cx="2880359" cy="640080"/>
          </a:xfrm>
          <a:prstGeom prst="rect">
            <a:avLst/>
          </a:prstGeom>
          <a:noFill/>
        </p:spPr>
        <p:txBody>
          <a:bodyPr wrap="square">
            <a:spAutoFit/>
          </a:bodyPr>
          <a:lstStyle/>
          <a:p>
            <a:pPr>
              <a:defRPr sz="1200" b="1">
                <a:solidFill>
                  <a:srgbClr val="1E1E1E"/>
                </a:solidFill>
                <a:latin typeface="Calibri"/>
              </a:defRPr>
            </a:pPr>
            <a:r>
              <a:t>STT Speech Capture</a:t>
            </a:r>
          </a:p>
          <a:p>
            <a:pPr>
              <a:defRPr sz="950">
                <a:solidFill>
                  <a:srgbClr val="646464"/>
                </a:solidFill>
                <a:latin typeface="Calibri"/>
              </a:defRPr>
            </a:pPr>
            <a:r>
              <a:t>Local Faster-Whisper converts streaming audio to raw text.</a:t>
            </a:r>
          </a:p>
        </p:txBody>
      </p:sp>
      <p:sp>
        <p:nvSpPr>
          <p:cNvPr id="13" name="Oval 12"/>
          <p:cNvSpPr/>
          <p:nvPr/>
        </p:nvSpPr>
        <p:spPr>
          <a:xfrm>
            <a:off x="8183879" y="312420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3</a:t>
            </a:r>
          </a:p>
        </p:txBody>
      </p:sp>
      <p:sp>
        <p:nvSpPr>
          <p:cNvPr id="14" name="TextBox 13"/>
          <p:cNvSpPr txBox="1"/>
          <p:nvPr/>
        </p:nvSpPr>
        <p:spPr>
          <a:xfrm>
            <a:off x="8668511" y="3078480"/>
            <a:ext cx="2880359" cy="640080"/>
          </a:xfrm>
          <a:prstGeom prst="rect">
            <a:avLst/>
          </a:prstGeom>
          <a:noFill/>
        </p:spPr>
        <p:txBody>
          <a:bodyPr wrap="square">
            <a:spAutoFit/>
          </a:bodyPr>
          <a:lstStyle/>
          <a:p>
            <a:pPr>
              <a:defRPr sz="1200" b="1">
                <a:solidFill>
                  <a:srgbClr val="1E1E1E"/>
                </a:solidFill>
                <a:latin typeface="Calibri"/>
              </a:defRPr>
            </a:pPr>
            <a:r>
              <a:t>Phonetic Correction</a:t>
            </a:r>
          </a:p>
          <a:p>
            <a:pPr>
              <a:defRPr sz="950">
                <a:solidFill>
                  <a:srgbClr val="646464"/>
                </a:solidFill>
                <a:latin typeface="Calibri"/>
              </a:defRPr>
            </a:pPr>
            <a:r>
              <a:t>Regex engine fixes misheard payload words (e.g. 'call you' -&gt; 'caillou').</a:t>
            </a:r>
          </a:p>
        </p:txBody>
      </p:sp>
      <p:sp>
        <p:nvSpPr>
          <p:cNvPr id="15" name="Oval 14"/>
          <p:cNvSpPr/>
          <p:nvPr/>
        </p:nvSpPr>
        <p:spPr>
          <a:xfrm>
            <a:off x="8183879" y="397763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4</a:t>
            </a:r>
          </a:p>
        </p:txBody>
      </p:sp>
      <p:sp>
        <p:nvSpPr>
          <p:cNvPr id="16" name="TextBox 15"/>
          <p:cNvSpPr txBox="1"/>
          <p:nvPr/>
        </p:nvSpPr>
        <p:spPr>
          <a:xfrm>
            <a:off x="8668511" y="3931920"/>
            <a:ext cx="2880359" cy="640080"/>
          </a:xfrm>
          <a:prstGeom prst="rect">
            <a:avLst/>
          </a:prstGeom>
          <a:noFill/>
        </p:spPr>
        <p:txBody>
          <a:bodyPr wrap="square">
            <a:spAutoFit/>
          </a:bodyPr>
          <a:lstStyle/>
          <a:p>
            <a:pPr>
              <a:defRPr sz="1200" b="1">
                <a:solidFill>
                  <a:srgbClr val="1E1E1E"/>
                </a:solidFill>
                <a:latin typeface="Calibri"/>
              </a:defRPr>
            </a:pPr>
            <a:r>
              <a:t>Dual-Brain Routing</a:t>
            </a:r>
          </a:p>
          <a:p>
            <a:pPr>
              <a:defRPr sz="950">
                <a:solidFill>
                  <a:srgbClr val="646464"/>
                </a:solidFill>
                <a:latin typeface="Calibri"/>
              </a:defRPr>
            </a:pPr>
            <a:r>
              <a:t>Little Brain verifies vital suit telemetry before Big Brain checks procedures.</a:t>
            </a:r>
          </a:p>
        </p:txBody>
      </p:sp>
      <p:sp>
        <p:nvSpPr>
          <p:cNvPr id="17" name="Oval 16"/>
          <p:cNvSpPr/>
          <p:nvPr/>
        </p:nvSpPr>
        <p:spPr>
          <a:xfrm>
            <a:off x="8183879" y="483108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5</a:t>
            </a:r>
          </a:p>
        </p:txBody>
      </p:sp>
      <p:sp>
        <p:nvSpPr>
          <p:cNvPr id="18" name="TextBox 17"/>
          <p:cNvSpPr txBox="1"/>
          <p:nvPr/>
        </p:nvSpPr>
        <p:spPr>
          <a:xfrm>
            <a:off x="8668511" y="4785360"/>
            <a:ext cx="2880359" cy="640080"/>
          </a:xfrm>
          <a:prstGeom prst="rect">
            <a:avLst/>
          </a:prstGeom>
          <a:noFill/>
        </p:spPr>
        <p:txBody>
          <a:bodyPr wrap="square">
            <a:spAutoFit/>
          </a:bodyPr>
          <a:lstStyle/>
          <a:p>
            <a:pPr>
              <a:defRPr sz="1200" b="1">
                <a:solidFill>
                  <a:srgbClr val="1E1E1E"/>
                </a:solidFill>
                <a:latin typeface="Calibri"/>
              </a:defRPr>
            </a:pPr>
            <a:r>
              <a:t>Procedure Execution</a:t>
            </a:r>
          </a:p>
          <a:p>
            <a:pPr>
              <a:defRPr sz="950">
                <a:solidFill>
                  <a:srgbClr val="646464"/>
                </a:solidFill>
                <a:latin typeface="Calibri"/>
              </a:defRPr>
            </a:pPr>
            <a:r>
              <a:t>System retrieves exact procedure step &amp; maintains session memory.</a:t>
            </a:r>
          </a:p>
        </p:txBody>
      </p:sp>
      <p:sp>
        <p:nvSpPr>
          <p:cNvPr id="19" name="Oval 18"/>
          <p:cNvSpPr/>
          <p:nvPr/>
        </p:nvSpPr>
        <p:spPr>
          <a:xfrm>
            <a:off x="8183879" y="568452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6</a:t>
            </a:r>
          </a:p>
        </p:txBody>
      </p:sp>
      <p:sp>
        <p:nvSpPr>
          <p:cNvPr id="20" name="TextBox 19"/>
          <p:cNvSpPr txBox="1"/>
          <p:nvPr/>
        </p:nvSpPr>
        <p:spPr>
          <a:xfrm>
            <a:off x="8668511" y="5638800"/>
            <a:ext cx="2880359" cy="640080"/>
          </a:xfrm>
          <a:prstGeom prst="rect">
            <a:avLst/>
          </a:prstGeom>
          <a:noFill/>
        </p:spPr>
        <p:txBody>
          <a:bodyPr wrap="square">
            <a:spAutoFit/>
          </a:bodyPr>
          <a:lstStyle/>
          <a:p>
            <a:pPr>
              <a:defRPr sz="1200" b="1">
                <a:solidFill>
                  <a:srgbClr val="1E1E1E"/>
                </a:solidFill>
                <a:latin typeface="Calibri"/>
              </a:defRPr>
            </a:pPr>
            <a:r>
              <a:t>Audio Synthesis</a:t>
            </a:r>
          </a:p>
          <a:p>
            <a:pPr>
              <a:defRPr sz="950">
                <a:solidFill>
                  <a:srgbClr val="646464"/>
                </a:solidFill>
                <a:latin typeface="Calibri"/>
              </a:defRPr>
            </a:pPr>
            <a:r>
              <a:t>Piper TTS generates high-clarity voice output in suit headset.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Software &amp; Dual-Brain Architecture</a:t>
            </a:r>
          </a:p>
        </p:txBody>
      </p:sp>
      <p:sp>
        <p:nvSpPr>
          <p:cNvPr id="6" name="TextBox 5"/>
          <p:cNvSpPr txBox="1"/>
          <p:nvPr/>
        </p:nvSpPr>
        <p:spPr>
          <a:xfrm>
            <a:off x="731520" y="1280160"/>
            <a:ext cx="6858000" cy="457200"/>
          </a:xfrm>
          <a:prstGeom prst="rect">
            <a:avLst/>
          </a:prstGeom>
          <a:noFill/>
        </p:spPr>
        <p:txBody>
          <a:bodyPr wrap="square">
            <a:spAutoFit/>
          </a:bodyPr>
          <a:lstStyle/>
          <a:p>
            <a:pPr algn="l">
              <a:spcAft>
                <a:spcPts val="1400"/>
              </a:spcAft>
              <a:defRPr sz="2000" b="1">
                <a:solidFill>
                  <a:srgbClr val="1E1E1E"/>
                </a:solidFill>
                <a:latin typeface="Consolas"/>
              </a:defRPr>
            </a:pPr>
            <a:r>
              <a:t>Dual-Brain Core Engine</a:t>
            </a:r>
          </a:p>
        </p:txBody>
      </p:sp>
      <p:sp>
        <p:nvSpPr>
          <p:cNvPr id="7" name="TextBox 6"/>
          <p:cNvSpPr txBox="1"/>
          <p:nvPr/>
        </p:nvSpPr>
        <p:spPr>
          <a:xfrm>
            <a:off x="731520" y="2103120"/>
            <a:ext cx="6858000" cy="4114800"/>
          </a:xfrm>
          <a:prstGeom prst="rect">
            <a:avLst/>
          </a:prstGeom>
          <a:noFill/>
        </p:spPr>
        <p:txBody>
          <a:bodyPr wrap="square">
            <a:spAutoFit/>
          </a:bodyPr>
          <a:lstStyle/>
          <a:p>
            <a:pPr>
              <a:spcAft>
                <a:spcPts val="2200"/>
              </a:spcAft>
            </a:pPr>
            <a:r>
              <a:rPr sz="1400" b="1">
                <a:solidFill>
                  <a:srgbClr val="1E1E1E"/>
                </a:solidFill>
                <a:latin typeface="Calibri"/>
              </a:rPr>
              <a:t>•  Little Brain (Reflex Engine): </a:t>
            </a:r>
            <a:r>
              <a:rPr sz="1400" b="0">
                <a:solidFill>
                  <a:srgbClr val="1E1E1E"/>
                </a:solidFill>
                <a:latin typeface="Calibri"/>
              </a:rPr>
              <a:t>Handles priority telemetry checks (O2, CO2, heart rate, battery) and emergency alerts with &lt;1ms execution latencies.</a:t>
            </a:r>
          </a:p>
          <a:p>
            <a:pPr>
              <a:spcAft>
                <a:spcPts val="2200"/>
              </a:spcAft>
            </a:pPr>
            <a:r>
              <a:rPr sz="1400" b="1">
                <a:solidFill>
                  <a:srgbClr val="1E1E1E"/>
                </a:solidFill>
                <a:latin typeface="Calibri"/>
              </a:rPr>
              <a:t>•  Big Brain (Procedure Engine): </a:t>
            </a:r>
            <a:r>
              <a:rPr sz="1400" b="0">
                <a:solidFill>
                  <a:srgbClr val="1E1E1E"/>
                </a:solidFill>
                <a:latin typeface="Calibri"/>
              </a:rPr>
              <a:t>Ingests local mission documents (Markdown, YAML, JSON) and provides step-by-step navigation (next, back, repeat).</a:t>
            </a:r>
          </a:p>
          <a:p>
            <a:pPr>
              <a:spcAft>
                <a:spcPts val="2200"/>
              </a:spcAft>
            </a:pPr>
            <a:r>
              <a:rPr sz="1400" b="1">
                <a:solidFill>
                  <a:srgbClr val="1E1E1E"/>
                </a:solidFill>
                <a:latin typeface="Calibri"/>
              </a:rPr>
              <a:t>•  Deterministic Logic: </a:t>
            </a:r>
            <a:r>
              <a:rPr sz="1400" b="0">
                <a:solidFill>
                  <a:srgbClr val="1E1E1E"/>
                </a:solidFill>
                <a:latin typeface="Calibri"/>
              </a:rPr>
              <a:t>Strict rule-based evaluation guarantees zero hallucination and 100% predictable responses during mission-critical tasks.</a:t>
            </a:r>
          </a:p>
        </p:txBody>
      </p:sp>
      <p:sp>
        <p:nvSpPr>
          <p:cNvPr id="8" name="Rounded Rectangle 7"/>
          <p:cNvSpPr/>
          <p:nvPr/>
        </p:nvSpPr>
        <p:spPr>
          <a:xfrm>
            <a:off x="7955279" y="1280160"/>
            <a:ext cx="3749039" cy="512064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83879" y="141731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1</a:t>
            </a:r>
          </a:p>
        </p:txBody>
      </p:sp>
      <p:sp>
        <p:nvSpPr>
          <p:cNvPr id="10" name="TextBox 9"/>
          <p:cNvSpPr txBox="1"/>
          <p:nvPr/>
        </p:nvSpPr>
        <p:spPr>
          <a:xfrm>
            <a:off x="8668511" y="1371599"/>
            <a:ext cx="2880359" cy="640080"/>
          </a:xfrm>
          <a:prstGeom prst="rect">
            <a:avLst/>
          </a:prstGeom>
          <a:noFill/>
        </p:spPr>
        <p:txBody>
          <a:bodyPr wrap="square">
            <a:spAutoFit/>
          </a:bodyPr>
          <a:lstStyle/>
          <a:p>
            <a:pPr>
              <a:defRPr sz="1200" b="1">
                <a:solidFill>
                  <a:srgbClr val="1E1E1E"/>
                </a:solidFill>
                <a:latin typeface="Calibri"/>
              </a:defRPr>
            </a:pPr>
            <a:r>
              <a:t>Microphone Input</a:t>
            </a:r>
          </a:p>
          <a:p>
            <a:pPr>
              <a:defRPr sz="950">
                <a:solidFill>
                  <a:srgbClr val="646464"/>
                </a:solidFill>
                <a:latin typeface="Calibri"/>
              </a:defRPr>
            </a:pPr>
            <a:r>
              <a:t>Raw 16kHz audio stream captured inside AOUDA helmet.</a:t>
            </a:r>
          </a:p>
        </p:txBody>
      </p:sp>
      <p:sp>
        <p:nvSpPr>
          <p:cNvPr id="11" name="Oval 10"/>
          <p:cNvSpPr/>
          <p:nvPr/>
        </p:nvSpPr>
        <p:spPr>
          <a:xfrm>
            <a:off x="8183879" y="227075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2</a:t>
            </a:r>
          </a:p>
        </p:txBody>
      </p:sp>
      <p:sp>
        <p:nvSpPr>
          <p:cNvPr id="12" name="TextBox 11"/>
          <p:cNvSpPr txBox="1"/>
          <p:nvPr/>
        </p:nvSpPr>
        <p:spPr>
          <a:xfrm>
            <a:off x="8668511" y="2225040"/>
            <a:ext cx="2880359" cy="640080"/>
          </a:xfrm>
          <a:prstGeom prst="rect">
            <a:avLst/>
          </a:prstGeom>
          <a:noFill/>
        </p:spPr>
        <p:txBody>
          <a:bodyPr wrap="square">
            <a:spAutoFit/>
          </a:bodyPr>
          <a:lstStyle/>
          <a:p>
            <a:pPr>
              <a:defRPr sz="1200" b="1">
                <a:solidFill>
                  <a:srgbClr val="1E1E1E"/>
                </a:solidFill>
                <a:latin typeface="Calibri"/>
              </a:defRPr>
            </a:pPr>
            <a:r>
              <a:t>Reflex Filter</a:t>
            </a:r>
          </a:p>
          <a:p>
            <a:pPr>
              <a:defRPr sz="950">
                <a:solidFill>
                  <a:srgbClr val="646464"/>
                </a:solidFill>
                <a:latin typeface="Calibri"/>
              </a:defRPr>
            </a:pPr>
            <a:r>
              <a:t>Little Brain inspects stream for instant emergency triggers.</a:t>
            </a:r>
          </a:p>
        </p:txBody>
      </p:sp>
      <p:sp>
        <p:nvSpPr>
          <p:cNvPr id="13" name="Oval 12"/>
          <p:cNvSpPr/>
          <p:nvPr/>
        </p:nvSpPr>
        <p:spPr>
          <a:xfrm>
            <a:off x="8183879" y="312420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3</a:t>
            </a:r>
          </a:p>
        </p:txBody>
      </p:sp>
      <p:sp>
        <p:nvSpPr>
          <p:cNvPr id="14" name="TextBox 13"/>
          <p:cNvSpPr txBox="1"/>
          <p:nvPr/>
        </p:nvSpPr>
        <p:spPr>
          <a:xfrm>
            <a:off x="8668511" y="3078480"/>
            <a:ext cx="2880359" cy="640080"/>
          </a:xfrm>
          <a:prstGeom prst="rect">
            <a:avLst/>
          </a:prstGeom>
          <a:noFill/>
        </p:spPr>
        <p:txBody>
          <a:bodyPr wrap="square">
            <a:spAutoFit/>
          </a:bodyPr>
          <a:lstStyle/>
          <a:p>
            <a:pPr>
              <a:defRPr sz="1200" b="1">
                <a:solidFill>
                  <a:srgbClr val="1E1E1E"/>
                </a:solidFill>
                <a:latin typeface="Calibri"/>
              </a:defRPr>
            </a:pPr>
            <a:r>
              <a:t>Procedure Context</a:t>
            </a:r>
          </a:p>
          <a:p>
            <a:pPr>
              <a:defRPr sz="950">
                <a:solidFill>
                  <a:srgbClr val="646464"/>
                </a:solidFill>
                <a:latin typeface="Calibri"/>
              </a:defRPr>
            </a:pPr>
            <a:r>
              <a:t>Big Brain identifies active payload ('Caillou') from session memory.</a:t>
            </a:r>
          </a:p>
        </p:txBody>
      </p:sp>
      <p:sp>
        <p:nvSpPr>
          <p:cNvPr id="15" name="Oval 14"/>
          <p:cNvSpPr/>
          <p:nvPr/>
        </p:nvSpPr>
        <p:spPr>
          <a:xfrm>
            <a:off x="8183879" y="3977639"/>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4</a:t>
            </a:r>
          </a:p>
        </p:txBody>
      </p:sp>
      <p:sp>
        <p:nvSpPr>
          <p:cNvPr id="16" name="TextBox 15"/>
          <p:cNvSpPr txBox="1"/>
          <p:nvPr/>
        </p:nvSpPr>
        <p:spPr>
          <a:xfrm>
            <a:off x="8668511" y="3931920"/>
            <a:ext cx="2880359" cy="640080"/>
          </a:xfrm>
          <a:prstGeom prst="rect">
            <a:avLst/>
          </a:prstGeom>
          <a:noFill/>
        </p:spPr>
        <p:txBody>
          <a:bodyPr wrap="square">
            <a:spAutoFit/>
          </a:bodyPr>
          <a:lstStyle/>
          <a:p>
            <a:pPr>
              <a:defRPr sz="1200" b="1">
                <a:solidFill>
                  <a:srgbClr val="1E1E1E"/>
                </a:solidFill>
                <a:latin typeface="Calibri"/>
              </a:defRPr>
            </a:pPr>
            <a:r>
              <a:t>Local Document Search</a:t>
            </a:r>
          </a:p>
          <a:p>
            <a:pPr>
              <a:defRPr sz="950">
                <a:solidFill>
                  <a:srgbClr val="646464"/>
                </a:solidFill>
                <a:latin typeface="Calibri"/>
              </a:defRPr>
            </a:pPr>
            <a:r>
              <a:t>Queries structured Markdown files without external network calls.</a:t>
            </a:r>
          </a:p>
        </p:txBody>
      </p:sp>
      <p:sp>
        <p:nvSpPr>
          <p:cNvPr id="17" name="Oval 16"/>
          <p:cNvSpPr/>
          <p:nvPr/>
        </p:nvSpPr>
        <p:spPr>
          <a:xfrm>
            <a:off x="8183879" y="483108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5</a:t>
            </a:r>
          </a:p>
        </p:txBody>
      </p:sp>
      <p:sp>
        <p:nvSpPr>
          <p:cNvPr id="18" name="TextBox 17"/>
          <p:cNvSpPr txBox="1"/>
          <p:nvPr/>
        </p:nvSpPr>
        <p:spPr>
          <a:xfrm>
            <a:off x="8668511" y="4785360"/>
            <a:ext cx="2880359" cy="640080"/>
          </a:xfrm>
          <a:prstGeom prst="rect">
            <a:avLst/>
          </a:prstGeom>
          <a:noFill/>
        </p:spPr>
        <p:txBody>
          <a:bodyPr wrap="square">
            <a:spAutoFit/>
          </a:bodyPr>
          <a:lstStyle/>
          <a:p>
            <a:pPr>
              <a:defRPr sz="1200" b="1">
                <a:solidFill>
                  <a:srgbClr val="1E1E1E"/>
                </a:solidFill>
                <a:latin typeface="Calibri"/>
              </a:defRPr>
            </a:pPr>
            <a:r>
              <a:t>Format Response</a:t>
            </a:r>
          </a:p>
          <a:p>
            <a:pPr>
              <a:defRPr sz="950">
                <a:solidFill>
                  <a:srgbClr val="646464"/>
                </a:solidFill>
                <a:latin typeface="Calibri"/>
              </a:defRPr>
            </a:pPr>
            <a:r>
              <a:t>Assembles exact step instructions and telemetry state.</a:t>
            </a:r>
          </a:p>
        </p:txBody>
      </p:sp>
      <p:sp>
        <p:nvSpPr>
          <p:cNvPr id="19" name="Oval 18"/>
          <p:cNvSpPr/>
          <p:nvPr/>
        </p:nvSpPr>
        <p:spPr>
          <a:xfrm>
            <a:off x="8183879" y="5684520"/>
            <a:ext cx="384048" cy="384048"/>
          </a:xfrm>
          <a:prstGeom prst="ellipse">
            <a:avLst/>
          </a:prstGeom>
          <a:solidFill>
            <a:srgbClr val="DC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6</a:t>
            </a:r>
          </a:p>
        </p:txBody>
      </p:sp>
      <p:sp>
        <p:nvSpPr>
          <p:cNvPr id="20" name="TextBox 19"/>
          <p:cNvSpPr txBox="1"/>
          <p:nvPr/>
        </p:nvSpPr>
        <p:spPr>
          <a:xfrm>
            <a:off x="8668511" y="5638800"/>
            <a:ext cx="2880359" cy="640080"/>
          </a:xfrm>
          <a:prstGeom prst="rect">
            <a:avLst/>
          </a:prstGeom>
          <a:noFill/>
        </p:spPr>
        <p:txBody>
          <a:bodyPr wrap="square">
            <a:spAutoFit/>
          </a:bodyPr>
          <a:lstStyle/>
          <a:p>
            <a:pPr>
              <a:defRPr sz="1200" b="1">
                <a:solidFill>
                  <a:srgbClr val="1E1E1E"/>
                </a:solidFill>
                <a:latin typeface="Calibri"/>
              </a:defRPr>
            </a:pPr>
            <a:r>
              <a:t>Speaker Output</a:t>
            </a:r>
          </a:p>
          <a:p>
            <a:pPr>
              <a:defRPr sz="950">
                <a:solidFill>
                  <a:srgbClr val="646464"/>
                </a:solidFill>
                <a:latin typeface="Calibri"/>
              </a:defRPr>
            </a:pPr>
            <a:r>
              <a:t>Piper neural TTS renders audio stream to astronaut headset.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Mission Scenario : 'Caillou' Spectrometer Demo</a:t>
            </a:r>
          </a:p>
        </p:txBody>
      </p:sp>
      <p:sp>
        <p:nvSpPr>
          <p:cNvPr id="6" name="Rounded Rectangle 5"/>
          <p:cNvSpPr/>
          <p:nvPr/>
        </p:nvSpPr>
        <p:spPr>
          <a:xfrm>
            <a:off x="731520" y="1371600"/>
            <a:ext cx="5212080" cy="210312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365760"/>
          </a:xfrm>
          <a:prstGeom prst="rect">
            <a:avLst/>
          </a:prstGeom>
          <a:noFill/>
        </p:spPr>
        <p:txBody>
          <a:bodyPr wrap="none">
            <a:spAutoFit/>
          </a:bodyPr>
          <a:lstStyle/>
          <a:p>
            <a:pPr>
              <a:defRPr sz="1400" b="1">
                <a:solidFill>
                  <a:srgbClr val="1E1E1E"/>
                </a:solidFill>
                <a:latin typeface="Consolas"/>
              </a:defRPr>
            </a:pPr>
            <a:r>
              <a:t>Step 1: Payload Selection</a:t>
            </a:r>
          </a:p>
        </p:txBody>
      </p:sp>
      <p:sp>
        <p:nvSpPr>
          <p:cNvPr id="8" name="TextBox 7"/>
          <p:cNvSpPr txBox="1"/>
          <p:nvPr/>
        </p:nvSpPr>
        <p:spPr>
          <a:xfrm>
            <a:off x="914400" y="1874519"/>
            <a:ext cx="4846320" cy="1463040"/>
          </a:xfrm>
          <a:prstGeom prst="rect">
            <a:avLst/>
          </a:prstGeom>
          <a:noFill/>
        </p:spPr>
        <p:txBody>
          <a:bodyPr wrap="square">
            <a:spAutoFit/>
          </a:bodyPr>
          <a:lstStyle/>
          <a:p>
            <a:pPr>
              <a:spcAft>
                <a:spcPts val="400"/>
              </a:spcAft>
              <a:defRPr sz="1200" b="1">
                <a:solidFill>
                  <a:srgbClr val="0066CC"/>
                </a:solidFill>
                <a:latin typeface="Calibri"/>
              </a:defRPr>
            </a:pPr>
            <a:r>
              <a:t>Astronaut: "AOUDA, Caillou step 4"</a:t>
            </a:r>
          </a:p>
          <a:p>
            <a:pPr>
              <a:spcAft>
                <a:spcPts val="400"/>
              </a:spcAft>
              <a:defRPr sz="1200">
                <a:solidFill>
                  <a:srgbClr val="1E1E1E"/>
                </a:solidFill>
                <a:latin typeface="Calibri"/>
              </a:defRPr>
            </a:pPr>
            <a:r>
              <a:t>JARVIS: "Step 4 — Laser Targeting: Activate laser beam via remote interface. Duration: 10s."</a:t>
            </a:r>
          </a:p>
        </p:txBody>
      </p:sp>
      <p:sp>
        <p:nvSpPr>
          <p:cNvPr id="9" name="Rounded Rectangle 8"/>
          <p:cNvSpPr/>
          <p:nvPr/>
        </p:nvSpPr>
        <p:spPr>
          <a:xfrm>
            <a:off x="6217920" y="1371600"/>
            <a:ext cx="5212080" cy="210312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365760"/>
          </a:xfrm>
          <a:prstGeom prst="rect">
            <a:avLst/>
          </a:prstGeom>
          <a:noFill/>
        </p:spPr>
        <p:txBody>
          <a:bodyPr wrap="none">
            <a:spAutoFit/>
          </a:bodyPr>
          <a:lstStyle/>
          <a:p>
            <a:pPr>
              <a:defRPr sz="1400" b="1">
                <a:solidFill>
                  <a:srgbClr val="1E1E1E"/>
                </a:solidFill>
                <a:latin typeface="Consolas"/>
              </a:defRPr>
            </a:pPr>
            <a:r>
              <a:t>Step 2: Contextual Follow-up</a:t>
            </a:r>
          </a:p>
        </p:txBody>
      </p:sp>
      <p:sp>
        <p:nvSpPr>
          <p:cNvPr id="11" name="TextBox 10"/>
          <p:cNvSpPr txBox="1"/>
          <p:nvPr/>
        </p:nvSpPr>
        <p:spPr>
          <a:xfrm>
            <a:off x="6400800" y="1874519"/>
            <a:ext cx="4846320" cy="1463040"/>
          </a:xfrm>
          <a:prstGeom prst="rect">
            <a:avLst/>
          </a:prstGeom>
          <a:noFill/>
        </p:spPr>
        <p:txBody>
          <a:bodyPr wrap="square">
            <a:spAutoFit/>
          </a:bodyPr>
          <a:lstStyle/>
          <a:p>
            <a:pPr>
              <a:spcAft>
                <a:spcPts val="400"/>
              </a:spcAft>
              <a:defRPr sz="1200" b="1">
                <a:solidFill>
                  <a:srgbClr val="0066CC"/>
                </a:solidFill>
                <a:latin typeface="Calibri"/>
              </a:defRPr>
            </a:pPr>
            <a:r>
              <a:t>Astronaut: "What do I do after that?"</a:t>
            </a:r>
          </a:p>
          <a:p>
            <a:pPr>
              <a:spcAft>
                <a:spcPts val="400"/>
              </a:spcAft>
              <a:defRPr sz="1200">
                <a:solidFill>
                  <a:srgbClr val="1E1E1E"/>
                </a:solidFill>
                <a:latin typeface="Calibri"/>
              </a:defRPr>
            </a:pPr>
            <a:r>
              <a:t>JARVIS: "Step 5 — Alignment: Align laser dot with target rock sample surface."</a:t>
            </a:r>
          </a:p>
        </p:txBody>
      </p:sp>
      <p:sp>
        <p:nvSpPr>
          <p:cNvPr id="12" name="Rounded Rectangle 11"/>
          <p:cNvSpPr/>
          <p:nvPr/>
        </p:nvSpPr>
        <p:spPr>
          <a:xfrm>
            <a:off x="731520" y="3840480"/>
            <a:ext cx="5212080" cy="210312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40"/>
            <a:ext cx="4846320" cy="365760"/>
          </a:xfrm>
          <a:prstGeom prst="rect">
            <a:avLst/>
          </a:prstGeom>
          <a:noFill/>
        </p:spPr>
        <p:txBody>
          <a:bodyPr wrap="none">
            <a:spAutoFit/>
          </a:bodyPr>
          <a:lstStyle/>
          <a:p>
            <a:pPr>
              <a:defRPr sz="1400" b="1">
                <a:solidFill>
                  <a:srgbClr val="1E1E1E"/>
                </a:solidFill>
                <a:latin typeface="Consolas"/>
              </a:defRPr>
            </a:pPr>
            <a:r>
              <a:t>Step 3: Repetition &amp; Clarification</a:t>
            </a:r>
          </a:p>
        </p:txBody>
      </p:sp>
      <p:sp>
        <p:nvSpPr>
          <p:cNvPr id="14" name="TextBox 13"/>
          <p:cNvSpPr txBox="1"/>
          <p:nvPr/>
        </p:nvSpPr>
        <p:spPr>
          <a:xfrm>
            <a:off x="914400" y="4343400"/>
            <a:ext cx="4846320" cy="1463040"/>
          </a:xfrm>
          <a:prstGeom prst="rect">
            <a:avLst/>
          </a:prstGeom>
          <a:noFill/>
        </p:spPr>
        <p:txBody>
          <a:bodyPr wrap="square">
            <a:spAutoFit/>
          </a:bodyPr>
          <a:lstStyle/>
          <a:p>
            <a:pPr>
              <a:spcAft>
                <a:spcPts val="400"/>
              </a:spcAft>
              <a:defRPr sz="1200" b="1">
                <a:solidFill>
                  <a:srgbClr val="0066CC"/>
                </a:solidFill>
                <a:latin typeface="Calibri"/>
              </a:defRPr>
            </a:pPr>
            <a:r>
              <a:t>Astronaut: "Repeat please"</a:t>
            </a:r>
          </a:p>
          <a:p>
            <a:pPr>
              <a:spcAft>
                <a:spcPts val="400"/>
              </a:spcAft>
              <a:defRPr sz="1200">
                <a:solidFill>
                  <a:srgbClr val="1E1E1E"/>
                </a:solidFill>
                <a:latin typeface="Calibri"/>
              </a:defRPr>
            </a:pPr>
            <a:r>
              <a:t>JARVIS: "Step 5 — Alignment: Align laser dot with target rock sample surface."</a:t>
            </a:r>
          </a:p>
        </p:txBody>
      </p:sp>
      <p:sp>
        <p:nvSpPr>
          <p:cNvPr id="15" name="Rounded Rectangle 14"/>
          <p:cNvSpPr/>
          <p:nvPr/>
        </p:nvSpPr>
        <p:spPr>
          <a:xfrm>
            <a:off x="6217920" y="3840480"/>
            <a:ext cx="5212080" cy="210312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46320" cy="365760"/>
          </a:xfrm>
          <a:prstGeom prst="rect">
            <a:avLst/>
          </a:prstGeom>
          <a:noFill/>
        </p:spPr>
        <p:txBody>
          <a:bodyPr wrap="none">
            <a:spAutoFit/>
          </a:bodyPr>
          <a:lstStyle/>
          <a:p>
            <a:pPr>
              <a:defRPr sz="1400" b="1">
                <a:solidFill>
                  <a:srgbClr val="1E1E1E"/>
                </a:solidFill>
                <a:latin typeface="Consolas"/>
              </a:defRPr>
            </a:pPr>
            <a:r>
              <a:t>Step 4: Live Telemetry Check</a:t>
            </a:r>
          </a:p>
        </p:txBody>
      </p:sp>
      <p:sp>
        <p:nvSpPr>
          <p:cNvPr id="17" name="TextBox 16"/>
          <p:cNvSpPr txBox="1"/>
          <p:nvPr/>
        </p:nvSpPr>
        <p:spPr>
          <a:xfrm>
            <a:off x="6400800" y="4343400"/>
            <a:ext cx="4846320" cy="1463040"/>
          </a:xfrm>
          <a:prstGeom prst="rect">
            <a:avLst/>
          </a:prstGeom>
          <a:noFill/>
        </p:spPr>
        <p:txBody>
          <a:bodyPr wrap="square">
            <a:spAutoFit/>
          </a:bodyPr>
          <a:lstStyle/>
          <a:p>
            <a:pPr>
              <a:spcAft>
                <a:spcPts val="400"/>
              </a:spcAft>
              <a:defRPr sz="1200" b="1">
                <a:solidFill>
                  <a:srgbClr val="0066CC"/>
                </a:solidFill>
                <a:latin typeface="Calibri"/>
              </a:defRPr>
            </a:pPr>
            <a:r>
              <a:t>Astronaut: "What is my oxygen level?"</a:t>
            </a:r>
          </a:p>
          <a:p>
            <a:pPr>
              <a:spcAft>
                <a:spcPts val="400"/>
              </a:spcAft>
              <a:defRPr sz="1200">
                <a:solidFill>
                  <a:srgbClr val="1E1E1E"/>
                </a:solidFill>
                <a:latin typeface="Calibri"/>
              </a:defRPr>
            </a:pPr>
            <a:r>
              <a:t>JARVIS: "Oxygen: 20.9% — Normal. Heart Rate: 85 bpm — Normal."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Hardware &amp; Mechanical Design</a:t>
            </a:r>
          </a:p>
        </p:txBody>
      </p:sp>
      <p:sp>
        <p:nvSpPr>
          <p:cNvPr id="6" name="Rounded Rectangle 5"/>
          <p:cNvSpPr/>
          <p:nvPr/>
        </p:nvSpPr>
        <p:spPr>
          <a:xfrm>
            <a:off x="731520" y="1463040"/>
            <a:ext cx="3383280" cy="475488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338328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3108960" cy="365760"/>
          </a:xfrm>
          <a:prstGeom prst="rect">
            <a:avLst/>
          </a:prstGeom>
          <a:noFill/>
        </p:spPr>
        <p:txBody>
          <a:bodyPr wrap="none">
            <a:spAutoFit/>
          </a:bodyPr>
          <a:lstStyle/>
          <a:p>
            <a:pPr>
              <a:defRPr sz="1400" b="1">
                <a:solidFill>
                  <a:srgbClr val="FFFFFF"/>
                </a:solidFill>
                <a:latin typeface="Consolas"/>
              </a:defRPr>
            </a:pPr>
            <a:r>
              <a:t>SBC Core Unit</a:t>
            </a:r>
          </a:p>
        </p:txBody>
      </p:sp>
      <p:sp>
        <p:nvSpPr>
          <p:cNvPr id="9" name="TextBox 8"/>
          <p:cNvSpPr txBox="1"/>
          <p:nvPr/>
        </p:nvSpPr>
        <p:spPr>
          <a:xfrm>
            <a:off x="914400" y="2194560"/>
            <a:ext cx="3017520" cy="3840480"/>
          </a:xfrm>
          <a:prstGeom prst="rect">
            <a:avLst/>
          </a:prstGeom>
          <a:noFill/>
        </p:spPr>
        <p:txBody>
          <a:bodyPr wrap="square">
            <a:spAutoFit/>
          </a:bodyPr>
          <a:lstStyle/>
          <a:p>
            <a:pPr>
              <a:spcAft>
                <a:spcPts val="1400"/>
              </a:spcAft>
            </a:pPr>
            <a:r>
              <a:rPr sz="1200" b="1">
                <a:solidFill>
                  <a:srgbClr val="1E1E1E"/>
                </a:solidFill>
                <a:latin typeface="Calibri"/>
              </a:rPr>
              <a:t>•  Processor:
</a:t>
            </a:r>
            <a:r>
              <a:rPr sz="1150">
                <a:solidFill>
                  <a:srgbClr val="646464"/>
                </a:solidFill>
                <a:latin typeface="Calibri"/>
              </a:rPr>
              <a:t>Raspberry Pi 4 / Embedded Linux</a:t>
            </a:r>
          </a:p>
          <a:p>
            <a:pPr>
              <a:spcAft>
                <a:spcPts val="1400"/>
              </a:spcAft>
            </a:pPr>
            <a:r>
              <a:rPr sz="1200" b="1">
                <a:solidFill>
                  <a:srgbClr val="1E1E1E"/>
                </a:solidFill>
                <a:latin typeface="Calibri"/>
              </a:rPr>
              <a:t>•  STT Engine:
</a:t>
            </a:r>
            <a:r>
              <a:rPr sz="1150">
                <a:solidFill>
                  <a:srgbClr val="646464"/>
                </a:solidFill>
                <a:latin typeface="Calibri"/>
              </a:rPr>
              <a:t>CTranslate2 Faster-Whisper (Int8)</a:t>
            </a:r>
          </a:p>
          <a:p>
            <a:pPr>
              <a:spcAft>
                <a:spcPts val="1400"/>
              </a:spcAft>
            </a:pPr>
            <a:r>
              <a:rPr sz="1200" b="1">
                <a:solidFill>
                  <a:srgbClr val="1E1E1E"/>
                </a:solidFill>
                <a:latin typeface="Calibri"/>
              </a:rPr>
              <a:t>•  Audio Interface:
</a:t>
            </a:r>
            <a:r>
              <a:rPr sz="1150">
                <a:solidFill>
                  <a:srgbClr val="646464"/>
                </a:solidFill>
                <a:latin typeface="Calibri"/>
              </a:rPr>
              <a:t>16kHz USB Microphone &amp; Headset</a:t>
            </a:r>
          </a:p>
          <a:p>
            <a:pPr>
              <a:spcAft>
                <a:spcPts val="1400"/>
              </a:spcAft>
            </a:pPr>
            <a:r>
              <a:rPr sz="1200" b="1">
                <a:solidFill>
                  <a:srgbClr val="1E1E1E"/>
                </a:solidFill>
                <a:latin typeface="Calibri"/>
              </a:rPr>
              <a:t>•  Offline Storage:
</a:t>
            </a:r>
            <a:r>
              <a:rPr sz="1150">
                <a:solidFill>
                  <a:srgbClr val="646464"/>
                </a:solidFill>
                <a:latin typeface="Calibri"/>
              </a:rPr>
              <a:t>Local SSD with preloaded procedures</a:t>
            </a:r>
          </a:p>
        </p:txBody>
      </p:sp>
      <p:sp>
        <p:nvSpPr>
          <p:cNvPr id="10" name="Rounded Rectangle 9"/>
          <p:cNvSpPr/>
          <p:nvPr/>
        </p:nvSpPr>
        <p:spPr>
          <a:xfrm>
            <a:off x="4389120" y="1463040"/>
            <a:ext cx="3383280" cy="475488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63040"/>
            <a:ext cx="338328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554480"/>
            <a:ext cx="3108960" cy="365760"/>
          </a:xfrm>
          <a:prstGeom prst="rect">
            <a:avLst/>
          </a:prstGeom>
          <a:noFill/>
        </p:spPr>
        <p:txBody>
          <a:bodyPr wrap="none">
            <a:spAutoFit/>
          </a:bodyPr>
          <a:lstStyle/>
          <a:p>
            <a:pPr>
              <a:defRPr sz="1400" b="1">
                <a:solidFill>
                  <a:srgbClr val="FFFFFF"/>
                </a:solidFill>
                <a:latin typeface="Consolas"/>
              </a:defRPr>
            </a:pPr>
            <a:r>
              <a:t>Power &amp; Autonomy</a:t>
            </a:r>
          </a:p>
        </p:txBody>
      </p:sp>
      <p:sp>
        <p:nvSpPr>
          <p:cNvPr id="13" name="TextBox 12"/>
          <p:cNvSpPr txBox="1"/>
          <p:nvPr/>
        </p:nvSpPr>
        <p:spPr>
          <a:xfrm>
            <a:off x="4572000" y="2194560"/>
            <a:ext cx="3017520" cy="3840480"/>
          </a:xfrm>
          <a:prstGeom prst="rect">
            <a:avLst/>
          </a:prstGeom>
          <a:noFill/>
        </p:spPr>
        <p:txBody>
          <a:bodyPr wrap="square">
            <a:spAutoFit/>
          </a:bodyPr>
          <a:lstStyle/>
          <a:p>
            <a:pPr>
              <a:spcAft>
                <a:spcPts val="1400"/>
              </a:spcAft>
            </a:pPr>
            <a:r>
              <a:rPr sz="1200" b="1">
                <a:solidFill>
                  <a:srgbClr val="1E1E1E"/>
                </a:solidFill>
                <a:latin typeface="Calibri"/>
              </a:rPr>
              <a:t>•  Power Source:
</a:t>
            </a:r>
            <a:r>
              <a:rPr sz="1150">
                <a:solidFill>
                  <a:srgbClr val="646464"/>
                </a:solidFill>
                <a:latin typeface="Calibri"/>
              </a:rPr>
              <a:t>Lightweight commercial power bank</a:t>
            </a:r>
          </a:p>
          <a:p>
            <a:pPr>
              <a:spcAft>
                <a:spcPts val="1400"/>
              </a:spcAft>
            </a:pPr>
            <a:r>
              <a:rPr sz="1200" b="1">
                <a:solidFill>
                  <a:srgbClr val="1E1E1E"/>
                </a:solidFill>
                <a:latin typeface="Calibri"/>
              </a:rPr>
              <a:t>•  Runtime:
</a:t>
            </a:r>
            <a:r>
              <a:rPr sz="1150">
                <a:solidFill>
                  <a:srgbClr val="646464"/>
                </a:solidFill>
                <a:latin typeface="Calibri"/>
              </a:rPr>
              <a:t>2+ hours continuous EVA operation</a:t>
            </a:r>
          </a:p>
          <a:p>
            <a:pPr>
              <a:spcAft>
                <a:spcPts val="1400"/>
              </a:spcAft>
            </a:pPr>
            <a:r>
              <a:rPr sz="1200" b="1">
                <a:solidFill>
                  <a:srgbClr val="1E1E1E"/>
                </a:solidFill>
                <a:latin typeface="Calibri"/>
              </a:rPr>
              <a:t>•  Thermal Shield:
</a:t>
            </a:r>
            <a:r>
              <a:rPr sz="1150">
                <a:solidFill>
                  <a:srgbClr val="646464"/>
                </a:solidFill>
                <a:latin typeface="Calibri"/>
              </a:rPr>
              <a:t>Custom insulation for field durability</a:t>
            </a:r>
          </a:p>
          <a:p>
            <a:pPr>
              <a:spcAft>
                <a:spcPts val="1400"/>
              </a:spcAft>
            </a:pPr>
            <a:r>
              <a:rPr sz="1200" b="1">
                <a:solidFill>
                  <a:srgbClr val="1E1E1E"/>
                </a:solidFill>
                <a:latin typeface="Calibri"/>
              </a:rPr>
              <a:t>•  Monitoring:
</a:t>
            </a:r>
            <a:r>
              <a:rPr sz="1150">
                <a:solidFill>
                  <a:srgbClr val="646464"/>
                </a:solidFill>
                <a:latin typeface="Calibri"/>
              </a:rPr>
              <a:t>Voltage telemetry fed to Little Brain</a:t>
            </a:r>
          </a:p>
        </p:txBody>
      </p:sp>
      <p:sp>
        <p:nvSpPr>
          <p:cNvPr id="14" name="Rounded Rectangle 13"/>
          <p:cNvSpPr/>
          <p:nvPr/>
        </p:nvSpPr>
        <p:spPr>
          <a:xfrm>
            <a:off x="8046720" y="1463040"/>
            <a:ext cx="3383280" cy="475488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463040"/>
            <a:ext cx="338328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54480"/>
            <a:ext cx="3108960" cy="365760"/>
          </a:xfrm>
          <a:prstGeom prst="rect">
            <a:avLst/>
          </a:prstGeom>
          <a:noFill/>
        </p:spPr>
        <p:txBody>
          <a:bodyPr wrap="none">
            <a:spAutoFit/>
          </a:bodyPr>
          <a:lstStyle/>
          <a:p>
            <a:pPr>
              <a:defRPr sz="1400" b="1">
                <a:solidFill>
                  <a:srgbClr val="FFFFFF"/>
                </a:solidFill>
                <a:latin typeface="Consolas"/>
              </a:defRPr>
            </a:pPr>
            <a:r>
              <a:t>Ergonomics &amp; Integration</a:t>
            </a:r>
          </a:p>
        </p:txBody>
      </p:sp>
      <p:sp>
        <p:nvSpPr>
          <p:cNvPr id="17" name="TextBox 16"/>
          <p:cNvSpPr txBox="1"/>
          <p:nvPr/>
        </p:nvSpPr>
        <p:spPr>
          <a:xfrm>
            <a:off x="8229600" y="2194560"/>
            <a:ext cx="3017520" cy="3840480"/>
          </a:xfrm>
          <a:prstGeom prst="rect">
            <a:avLst/>
          </a:prstGeom>
          <a:noFill/>
        </p:spPr>
        <p:txBody>
          <a:bodyPr wrap="square">
            <a:spAutoFit/>
          </a:bodyPr>
          <a:lstStyle/>
          <a:p>
            <a:pPr>
              <a:spcAft>
                <a:spcPts val="1400"/>
              </a:spcAft>
            </a:pPr>
            <a:r>
              <a:rPr sz="1200" b="1">
                <a:solidFill>
                  <a:srgbClr val="1E1E1E"/>
                </a:solidFill>
                <a:latin typeface="Calibri"/>
              </a:rPr>
              <a:t>•  Suit Mounting:
</a:t>
            </a:r>
            <a:r>
              <a:rPr sz="1150">
                <a:solidFill>
                  <a:srgbClr val="646464"/>
                </a:solidFill>
                <a:latin typeface="Calibri"/>
              </a:rPr>
              <a:t>Hands-free helmet headset connection</a:t>
            </a:r>
          </a:p>
          <a:p>
            <a:pPr>
              <a:spcAft>
                <a:spcPts val="1400"/>
              </a:spcAft>
            </a:pPr>
            <a:r>
              <a:rPr sz="1200" b="1">
                <a:solidFill>
                  <a:srgbClr val="1E1E1E"/>
                </a:solidFill>
                <a:latin typeface="Calibri"/>
              </a:rPr>
              <a:t>•  EVA Usability:
</a:t>
            </a:r>
            <a:r>
              <a:rPr sz="1150">
                <a:solidFill>
                  <a:srgbClr val="646464"/>
                </a:solidFill>
                <a:latin typeface="Calibri"/>
              </a:rPr>
              <a:t>Zero touch required during operations</a:t>
            </a:r>
          </a:p>
          <a:p>
            <a:pPr>
              <a:spcAft>
                <a:spcPts val="1400"/>
              </a:spcAft>
            </a:pPr>
            <a:r>
              <a:rPr sz="1200" b="1">
                <a:solidFill>
                  <a:srgbClr val="1E1E1E"/>
                </a:solidFill>
                <a:latin typeface="Calibri"/>
              </a:rPr>
              <a:t>•  Field Durability:
</a:t>
            </a:r>
            <a:r>
              <a:rPr sz="1150">
                <a:solidFill>
                  <a:srgbClr val="646464"/>
                </a:solidFill>
                <a:latin typeface="Calibri"/>
              </a:rPr>
              <a:t>Dust-resistant sealed enclosure</a:t>
            </a:r>
          </a:p>
          <a:p>
            <a:pPr>
              <a:spcAft>
                <a:spcPts val="1400"/>
              </a:spcAft>
            </a:pPr>
            <a:r>
              <a:rPr sz="1200" b="1">
                <a:solidFill>
                  <a:srgbClr val="1E1E1E"/>
                </a:solidFill>
                <a:latin typeface="Calibri"/>
              </a:rPr>
              <a:t>•  Mission Testing:
</a:t>
            </a:r>
            <a:r>
              <a:rPr sz="1150">
                <a:solidFill>
                  <a:srgbClr val="646464"/>
                </a:solidFill>
                <a:latin typeface="Calibri"/>
              </a:rPr>
              <a:t>Validated for ÖWF AMADEE analog suit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taca_logo.png"/>
          <p:cNvPicPr>
            <a:picLocks noChangeAspect="1"/>
          </p:cNvPicPr>
          <p:nvPr/>
        </p:nvPicPr>
        <p:blipFill>
          <a:blip r:embed="rId2"/>
          <a:stretch>
            <a:fillRect/>
          </a:stretch>
        </p:blipFill>
        <p:spPr>
          <a:xfrm>
            <a:off x="365760" y="228600"/>
            <a:ext cx="1886505" cy="777240"/>
          </a:xfrm>
          <a:prstGeom prst="rect">
            <a:avLst/>
          </a:prstGeom>
        </p:spPr>
      </p:pic>
      <p:pic>
        <p:nvPicPr>
          <p:cNvPr id="4" name="Picture 3" descr="owf_logo.png"/>
          <p:cNvPicPr>
            <a:picLocks noChangeAspect="1"/>
          </p:cNvPicPr>
          <p:nvPr/>
        </p:nvPicPr>
        <p:blipFill>
          <a:blip r:embed="rId3"/>
          <a:stretch>
            <a:fillRect/>
          </a:stretch>
        </p:blipFill>
        <p:spPr>
          <a:xfrm>
            <a:off x="10607040" y="228600"/>
            <a:ext cx="1313793" cy="777240"/>
          </a:xfrm>
          <a:prstGeom prst="rect">
            <a:avLst/>
          </a:prstGeom>
        </p:spPr>
      </p:pic>
      <p:sp>
        <p:nvSpPr>
          <p:cNvPr id="5" name="TextBox 4"/>
          <p:cNvSpPr txBox="1"/>
          <p:nvPr/>
        </p:nvSpPr>
        <p:spPr>
          <a:xfrm>
            <a:off x="2011680" y="320040"/>
            <a:ext cx="8168335" cy="685800"/>
          </a:xfrm>
          <a:prstGeom prst="rect">
            <a:avLst/>
          </a:prstGeom>
          <a:noFill/>
        </p:spPr>
        <p:txBody>
          <a:bodyPr wrap="square">
            <a:spAutoFit/>
          </a:bodyPr>
          <a:lstStyle/>
          <a:p>
            <a:pPr algn="ctr">
              <a:defRPr sz="2600" b="1">
                <a:solidFill>
                  <a:srgbClr val="1E1E1E"/>
                </a:solidFill>
                <a:latin typeface="Consolas"/>
              </a:defRPr>
            </a:pPr>
            <a:r>
              <a:t>Conclusion &amp; Validation Results</a:t>
            </a:r>
          </a:p>
        </p:txBody>
      </p:sp>
      <p:sp>
        <p:nvSpPr>
          <p:cNvPr id="6" name="Rounded Rectangle 5"/>
          <p:cNvSpPr/>
          <p:nvPr/>
        </p:nvSpPr>
        <p:spPr>
          <a:xfrm>
            <a:off x="731520" y="1371600"/>
            <a:ext cx="3383280" cy="182880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3200400" cy="822960"/>
          </a:xfrm>
          <a:prstGeom prst="rect">
            <a:avLst/>
          </a:prstGeom>
          <a:noFill/>
        </p:spPr>
        <p:txBody>
          <a:bodyPr wrap="none">
            <a:spAutoFit/>
          </a:bodyPr>
          <a:lstStyle/>
          <a:p>
            <a:pPr algn="ctr">
              <a:defRPr sz="3600" b="1">
                <a:solidFill>
                  <a:srgbClr val="0066CC"/>
                </a:solidFill>
                <a:latin typeface="Consolas"/>
              </a:defRPr>
            </a:pPr>
            <a:r>
              <a:t>33 / 33</a:t>
            </a:r>
          </a:p>
        </p:txBody>
      </p:sp>
      <p:sp>
        <p:nvSpPr>
          <p:cNvPr id="8" name="TextBox 7"/>
          <p:cNvSpPr txBox="1"/>
          <p:nvPr/>
        </p:nvSpPr>
        <p:spPr>
          <a:xfrm>
            <a:off x="822960" y="2377440"/>
            <a:ext cx="3200400" cy="640080"/>
          </a:xfrm>
          <a:prstGeom prst="rect">
            <a:avLst/>
          </a:prstGeom>
          <a:noFill/>
        </p:spPr>
        <p:txBody>
          <a:bodyPr wrap="none">
            <a:spAutoFit/>
          </a:bodyPr>
          <a:lstStyle/>
          <a:p>
            <a:pPr algn="ctr">
              <a:defRPr sz="1200" b="1">
                <a:solidFill>
                  <a:srgbClr val="1E1E1E"/>
                </a:solidFill>
                <a:latin typeface="Calibri"/>
              </a:defRPr>
            </a:pPr>
            <a:r>
              <a:t>PyTest Unit Tests Passed</a:t>
            </a:r>
          </a:p>
        </p:txBody>
      </p:sp>
      <p:sp>
        <p:nvSpPr>
          <p:cNvPr id="9" name="Rounded Rectangle 8"/>
          <p:cNvSpPr/>
          <p:nvPr/>
        </p:nvSpPr>
        <p:spPr>
          <a:xfrm>
            <a:off x="4389120" y="1371600"/>
            <a:ext cx="3383280" cy="182880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508760"/>
            <a:ext cx="3200400" cy="822960"/>
          </a:xfrm>
          <a:prstGeom prst="rect">
            <a:avLst/>
          </a:prstGeom>
          <a:noFill/>
        </p:spPr>
        <p:txBody>
          <a:bodyPr wrap="none">
            <a:spAutoFit/>
          </a:bodyPr>
          <a:lstStyle/>
          <a:p>
            <a:pPr algn="ctr">
              <a:defRPr sz="3600" b="1">
                <a:solidFill>
                  <a:srgbClr val="1E1E1E"/>
                </a:solidFill>
                <a:latin typeface="Consolas"/>
              </a:defRPr>
            </a:pPr>
            <a:r>
              <a:t>&lt; 1.5 s</a:t>
            </a:r>
          </a:p>
        </p:txBody>
      </p:sp>
      <p:sp>
        <p:nvSpPr>
          <p:cNvPr id="11" name="TextBox 10"/>
          <p:cNvSpPr txBox="1"/>
          <p:nvPr/>
        </p:nvSpPr>
        <p:spPr>
          <a:xfrm>
            <a:off x="4480559" y="2377440"/>
            <a:ext cx="3200400" cy="640080"/>
          </a:xfrm>
          <a:prstGeom prst="rect">
            <a:avLst/>
          </a:prstGeom>
          <a:noFill/>
        </p:spPr>
        <p:txBody>
          <a:bodyPr wrap="none">
            <a:spAutoFit/>
          </a:bodyPr>
          <a:lstStyle/>
          <a:p>
            <a:pPr algn="ctr">
              <a:defRPr sz="1200" b="1">
                <a:solidFill>
                  <a:srgbClr val="1E1E1E"/>
                </a:solidFill>
                <a:latin typeface="Calibri"/>
              </a:defRPr>
            </a:pPr>
            <a:r>
              <a:t>End-to-End Voice Latency</a:t>
            </a:r>
          </a:p>
        </p:txBody>
      </p:sp>
      <p:sp>
        <p:nvSpPr>
          <p:cNvPr id="12" name="Rounded Rectangle 11"/>
          <p:cNvSpPr/>
          <p:nvPr/>
        </p:nvSpPr>
        <p:spPr>
          <a:xfrm>
            <a:off x="8046720" y="1371600"/>
            <a:ext cx="3383280" cy="182880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508760"/>
            <a:ext cx="3200400" cy="822960"/>
          </a:xfrm>
          <a:prstGeom prst="rect">
            <a:avLst/>
          </a:prstGeom>
          <a:noFill/>
        </p:spPr>
        <p:txBody>
          <a:bodyPr wrap="none">
            <a:spAutoFit/>
          </a:bodyPr>
          <a:lstStyle/>
          <a:p>
            <a:pPr algn="ctr">
              <a:defRPr sz="3600" b="1">
                <a:solidFill>
                  <a:srgbClr val="C41E3A"/>
                </a:solidFill>
                <a:latin typeface="Consolas"/>
              </a:defRPr>
            </a:pPr>
            <a:r>
              <a:t>0 %</a:t>
            </a:r>
          </a:p>
        </p:txBody>
      </p:sp>
      <p:sp>
        <p:nvSpPr>
          <p:cNvPr id="14" name="TextBox 13"/>
          <p:cNvSpPr txBox="1"/>
          <p:nvPr/>
        </p:nvSpPr>
        <p:spPr>
          <a:xfrm>
            <a:off x="8138160" y="2377440"/>
            <a:ext cx="3200400" cy="640080"/>
          </a:xfrm>
          <a:prstGeom prst="rect">
            <a:avLst/>
          </a:prstGeom>
          <a:noFill/>
        </p:spPr>
        <p:txBody>
          <a:bodyPr wrap="none">
            <a:spAutoFit/>
          </a:bodyPr>
          <a:lstStyle/>
          <a:p>
            <a:pPr algn="ctr">
              <a:defRPr sz="1200" b="1">
                <a:solidFill>
                  <a:srgbClr val="1E1E1E"/>
                </a:solidFill>
                <a:latin typeface="Calibri"/>
              </a:defRPr>
            </a:pPr>
            <a:r>
              <a:t>Hallucination Rate (100% Deterministic)</a:t>
            </a:r>
          </a:p>
        </p:txBody>
      </p:sp>
      <p:sp>
        <p:nvSpPr>
          <p:cNvPr id="15" name="Rounded Rectangle 14"/>
          <p:cNvSpPr/>
          <p:nvPr/>
        </p:nvSpPr>
        <p:spPr>
          <a:xfrm>
            <a:off x="731520" y="3474720"/>
            <a:ext cx="10698480" cy="2834640"/>
          </a:xfrm>
          <a:prstGeom prst="roundRect">
            <a:avLst/>
          </a:prstGeom>
          <a:solidFill>
            <a:srgbClr val="FAF8F2"/>
          </a:solidFill>
          <a:ln w="12700">
            <a:solidFill>
              <a:srgbClr val="DC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57600"/>
            <a:ext cx="10149840" cy="365760"/>
          </a:xfrm>
          <a:prstGeom prst="rect">
            <a:avLst/>
          </a:prstGeom>
          <a:noFill/>
        </p:spPr>
        <p:txBody>
          <a:bodyPr wrap="none">
            <a:spAutoFit/>
          </a:bodyPr>
          <a:lstStyle/>
          <a:p>
            <a:pPr>
              <a:defRPr sz="1600" b="1">
                <a:solidFill>
                  <a:srgbClr val="1E1E1E"/>
                </a:solidFill>
                <a:latin typeface="Consolas"/>
              </a:defRPr>
            </a:pPr>
            <a:r>
              <a:t>Summary &amp; AMADEE-27 Perspectives</a:t>
            </a:r>
          </a:p>
        </p:txBody>
      </p:sp>
      <p:sp>
        <p:nvSpPr>
          <p:cNvPr id="17" name="TextBox 16"/>
          <p:cNvSpPr txBox="1"/>
          <p:nvPr/>
        </p:nvSpPr>
        <p:spPr>
          <a:xfrm>
            <a:off x="1005840" y="4114800"/>
            <a:ext cx="10149840" cy="2011680"/>
          </a:xfrm>
          <a:prstGeom prst="rect">
            <a:avLst/>
          </a:prstGeom>
          <a:noFill/>
        </p:spPr>
        <p:txBody>
          <a:bodyPr wrap="square">
            <a:spAutoFit/>
          </a:bodyPr>
          <a:lstStyle/>
          <a:p>
            <a:pPr>
              <a:spcAft>
                <a:spcPts val="1000"/>
              </a:spcAft>
            </a:pPr>
            <a:r>
              <a:rPr sz="1350" b="1">
                <a:solidFill>
                  <a:srgbClr val="1E1E1E"/>
                </a:solidFill>
                <a:latin typeface="Calibri"/>
              </a:rPr>
              <a:t>•  Proven Reliability: </a:t>
            </a:r>
            <a:r>
              <a:rPr sz="1350" b="0">
                <a:solidFill>
                  <a:srgbClr val="1E1E1E"/>
                </a:solidFill>
                <a:latin typeface="Calibri"/>
              </a:rPr>
              <a:t>Fully local processing ensures zero dependency on external network or cloud services.</a:t>
            </a:r>
          </a:p>
          <a:p>
            <a:pPr>
              <a:spcAft>
                <a:spcPts val="1000"/>
              </a:spcAft>
            </a:pPr>
            <a:r>
              <a:rPr sz="1350" b="1">
                <a:solidFill>
                  <a:srgbClr val="1E1E1E"/>
                </a:solidFill>
                <a:latin typeface="Calibri"/>
              </a:rPr>
              <a:t>•  Mission Expansion: </a:t>
            </a:r>
            <a:r>
              <a:rPr sz="1350" b="0">
                <a:solidFill>
                  <a:srgbClr val="1E1E1E"/>
                </a:solidFill>
                <a:latin typeface="Calibri"/>
              </a:rPr>
              <a:t>Adding new procedures requires simply dropping Markdown or YAML files into the knowledge base.</a:t>
            </a:r>
          </a:p>
          <a:p>
            <a:pPr>
              <a:spcAft>
                <a:spcPts val="1000"/>
              </a:spcAft>
            </a:pPr>
            <a:r>
              <a:rPr sz="1350" b="1">
                <a:solidFill>
                  <a:srgbClr val="1E1E1E"/>
                </a:solidFill>
                <a:latin typeface="Calibri"/>
              </a:rPr>
              <a:t>•  Next Steps: </a:t>
            </a:r>
            <a:r>
              <a:rPr sz="1350" b="0">
                <a:solidFill>
                  <a:srgbClr val="1E1E1E"/>
                </a:solidFill>
                <a:latin typeface="Calibri"/>
              </a:rPr>
              <a:t>Integrate with suit HUD visual display and conduct field trials during ÖWF AMADEE Mars analog simulations.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